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Bold" charset="1" panose="00000800000000000000"/>
      <p:regular r:id="rId12"/>
    </p:embeddedFont>
    <p:embeddedFont>
      <p:font typeface="Montserrat" charset="1" panose="00000500000000000000"/>
      <p:regular r:id="rId13"/>
    </p:embeddedFont>
    <p:embeddedFont>
      <p:font typeface="Roboto" charset="1" panose="02000000000000000000"/>
      <p:regular r:id="rId14"/>
    </p:embeddedFont>
    <p:embeddedFont>
      <p:font typeface="Roboto Bold" charset="1" panose="02000000000000000000"/>
      <p:regular r:id="rId15"/>
    </p:embeddedFont>
    <p:embeddedFont>
      <p:font typeface="Roboto Italics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0" y="1371600"/>
            <a:ext cx="7315200" cy="8886377"/>
            <a:chOff x="0" y="0"/>
            <a:chExt cx="9753600" cy="1184850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753600" cy="11848465"/>
            </a:xfrm>
            <a:custGeom>
              <a:avLst/>
              <a:gdLst/>
              <a:ahLst/>
              <a:cxnLst/>
              <a:rect r="r" b="b" t="t" l="l"/>
              <a:pathLst>
                <a:path h="11848465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848465"/>
                  </a:lnTo>
                  <a:lnTo>
                    <a:pt x="0" y="11848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0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15488" y="1385888"/>
            <a:ext cx="7286625" cy="8857802"/>
            <a:chOff x="0" y="0"/>
            <a:chExt cx="9715500" cy="1181040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9715500" cy="11810365"/>
            </a:xfrm>
            <a:custGeom>
              <a:avLst/>
              <a:gdLst/>
              <a:ahLst/>
              <a:cxnLst/>
              <a:rect r="r" b="b" t="t" l="l"/>
              <a:pathLst>
                <a:path h="11810365" w="9715500">
                  <a:moveTo>
                    <a:pt x="0" y="0"/>
                  </a:moveTo>
                  <a:lnTo>
                    <a:pt x="9715500" y="0"/>
                  </a:lnTo>
                  <a:lnTo>
                    <a:pt x="9715500" y="11810365"/>
                  </a:lnTo>
                  <a:lnTo>
                    <a:pt x="0" y="11810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t="0" r="-3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44150" y="2271713"/>
            <a:ext cx="5829300" cy="7086152"/>
            <a:chOff x="0" y="0"/>
            <a:chExt cx="7772400" cy="9448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72400" cy="9448165"/>
            </a:xfrm>
            <a:custGeom>
              <a:avLst/>
              <a:gdLst/>
              <a:ahLst/>
              <a:cxnLst/>
              <a:rect r="r" b="b" t="t" l="l"/>
              <a:pathLst>
                <a:path h="9448165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9448165"/>
                  </a:lnTo>
                  <a:lnTo>
                    <a:pt x="0" y="9448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358" t="0" r="-52426" b="-1223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14095"/>
            <a:ext cx="2615578" cy="31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2123" b="true">
                <a:solidFill>
                  <a:srgbClr val="3B82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SYNAPCE |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390650"/>
            <a:ext cx="7830979" cy="347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AeroSense: </a:t>
            </a:r>
          </a:p>
          <a:p>
            <a:pPr algn="l">
              <a:lnSpc>
                <a:spcPts val="6930"/>
              </a:lnSpc>
            </a:pPr>
            <a:r>
              <a:rPr lang="en-US" sz="4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Advanced Rider Assistance &amp; Smart Mapping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098427"/>
            <a:ext cx="7286625" cy="93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B4B4B4"/>
                </a:solidFill>
                <a:latin typeface="Roboto"/>
                <a:ea typeface="Roboto"/>
                <a:cs typeface="Roboto"/>
                <a:sym typeface="Roboto"/>
              </a:rPr>
              <a:t>Transforming commuter two-wheelers into a decentralized road inspection fleet.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009827"/>
            <a:ext cx="70008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Two-wheelers suffer disproportionately from road surface degradation.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48052"/>
            <a:ext cx="70008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A pothole bends a car rim, but causes a fatal loss-of-control accident on a stiffly sprung scooter.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8086277"/>
            <a:ext cx="700087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Municipal councils lack real-time data to patch depressions early.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382354"/>
            <a:ext cx="7286625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856" y="3264694"/>
            <a:ext cx="3757612" cy="5657850"/>
            <a:chOff x="0" y="0"/>
            <a:chExt cx="5010150" cy="7543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0150" cy="7543800"/>
            </a:xfrm>
            <a:custGeom>
              <a:avLst/>
              <a:gdLst/>
              <a:ahLst/>
              <a:cxnLst/>
              <a:rect r="r" b="b" t="t" l="l"/>
              <a:pathLst>
                <a:path h="7543800" w="5010150">
                  <a:moveTo>
                    <a:pt x="0" y="152908"/>
                  </a:moveTo>
                  <a:cubicBezTo>
                    <a:pt x="0" y="68453"/>
                    <a:pt x="68453" y="0"/>
                    <a:pt x="152908" y="0"/>
                  </a:cubicBezTo>
                  <a:lnTo>
                    <a:pt x="4857242" y="0"/>
                  </a:lnTo>
                  <a:cubicBezTo>
                    <a:pt x="4941697" y="0"/>
                    <a:pt x="5010150" y="68453"/>
                    <a:pt x="5010150" y="152908"/>
                  </a:cubicBezTo>
                  <a:lnTo>
                    <a:pt x="5010150" y="7390892"/>
                  </a:lnTo>
                  <a:cubicBezTo>
                    <a:pt x="5010150" y="7475348"/>
                    <a:pt x="4941697" y="7543800"/>
                    <a:pt x="4857242" y="7543800"/>
                  </a:cubicBezTo>
                  <a:lnTo>
                    <a:pt x="152908" y="7543800"/>
                  </a:lnTo>
                  <a:cubicBezTo>
                    <a:pt x="68453" y="7543800"/>
                    <a:pt x="0" y="7475347"/>
                    <a:pt x="0" y="73908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222081" y="3264694"/>
            <a:ext cx="3757612" cy="5657850"/>
            <a:chOff x="0" y="0"/>
            <a:chExt cx="5010150" cy="7543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10150" cy="7543800"/>
            </a:xfrm>
            <a:custGeom>
              <a:avLst/>
              <a:gdLst/>
              <a:ahLst/>
              <a:cxnLst/>
              <a:rect r="r" b="b" t="t" l="l"/>
              <a:pathLst>
                <a:path h="7543800" w="5010150">
                  <a:moveTo>
                    <a:pt x="0" y="152908"/>
                  </a:moveTo>
                  <a:cubicBezTo>
                    <a:pt x="0" y="68453"/>
                    <a:pt x="68453" y="0"/>
                    <a:pt x="152908" y="0"/>
                  </a:cubicBezTo>
                  <a:lnTo>
                    <a:pt x="4857242" y="0"/>
                  </a:lnTo>
                  <a:cubicBezTo>
                    <a:pt x="4941697" y="0"/>
                    <a:pt x="5010150" y="68453"/>
                    <a:pt x="5010150" y="152908"/>
                  </a:cubicBezTo>
                  <a:lnTo>
                    <a:pt x="5010150" y="7390892"/>
                  </a:lnTo>
                  <a:cubicBezTo>
                    <a:pt x="5010150" y="7475348"/>
                    <a:pt x="4941697" y="7543800"/>
                    <a:pt x="4857242" y="7543800"/>
                  </a:cubicBezTo>
                  <a:lnTo>
                    <a:pt x="152908" y="7543800"/>
                  </a:lnTo>
                  <a:cubicBezTo>
                    <a:pt x="68453" y="7543800"/>
                    <a:pt x="0" y="7475347"/>
                    <a:pt x="0" y="73908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08306" y="3264694"/>
            <a:ext cx="3757612" cy="5657850"/>
            <a:chOff x="0" y="0"/>
            <a:chExt cx="5010150" cy="7543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0150" cy="7543800"/>
            </a:xfrm>
            <a:custGeom>
              <a:avLst/>
              <a:gdLst/>
              <a:ahLst/>
              <a:cxnLst/>
              <a:rect r="r" b="b" t="t" l="l"/>
              <a:pathLst>
                <a:path h="7543800" w="5010150">
                  <a:moveTo>
                    <a:pt x="0" y="152908"/>
                  </a:moveTo>
                  <a:cubicBezTo>
                    <a:pt x="0" y="68453"/>
                    <a:pt x="68453" y="0"/>
                    <a:pt x="152908" y="0"/>
                  </a:cubicBezTo>
                  <a:lnTo>
                    <a:pt x="4857242" y="0"/>
                  </a:lnTo>
                  <a:cubicBezTo>
                    <a:pt x="4941697" y="0"/>
                    <a:pt x="5010150" y="68453"/>
                    <a:pt x="5010150" y="152908"/>
                  </a:cubicBezTo>
                  <a:lnTo>
                    <a:pt x="5010150" y="7390892"/>
                  </a:lnTo>
                  <a:cubicBezTo>
                    <a:pt x="5010150" y="7475348"/>
                    <a:pt x="4941697" y="7543800"/>
                    <a:pt x="4857242" y="7543800"/>
                  </a:cubicBezTo>
                  <a:lnTo>
                    <a:pt x="152908" y="7543800"/>
                  </a:lnTo>
                  <a:cubicBezTo>
                    <a:pt x="68453" y="7543800"/>
                    <a:pt x="0" y="7475347"/>
                    <a:pt x="0" y="739089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394531" y="3264694"/>
            <a:ext cx="3757612" cy="5657850"/>
            <a:chOff x="0" y="0"/>
            <a:chExt cx="5010150" cy="7543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10150" cy="7543800"/>
            </a:xfrm>
            <a:custGeom>
              <a:avLst/>
              <a:gdLst/>
              <a:ahLst/>
              <a:cxnLst/>
              <a:rect r="r" b="b" t="t" l="l"/>
              <a:pathLst>
                <a:path h="7543800" w="5010150">
                  <a:moveTo>
                    <a:pt x="0" y="152908"/>
                  </a:moveTo>
                  <a:cubicBezTo>
                    <a:pt x="0" y="68453"/>
                    <a:pt x="68453" y="0"/>
                    <a:pt x="152908" y="0"/>
                  </a:cubicBezTo>
                  <a:lnTo>
                    <a:pt x="4857242" y="0"/>
                  </a:lnTo>
                  <a:cubicBezTo>
                    <a:pt x="4941697" y="0"/>
                    <a:pt x="5010150" y="68453"/>
                    <a:pt x="5010150" y="152908"/>
                  </a:cubicBezTo>
                  <a:lnTo>
                    <a:pt x="5010150" y="7390892"/>
                  </a:lnTo>
                  <a:cubicBezTo>
                    <a:pt x="5010150" y="7475348"/>
                    <a:pt x="4941697" y="7543800"/>
                    <a:pt x="4857242" y="7543800"/>
                  </a:cubicBezTo>
                  <a:lnTo>
                    <a:pt x="152908" y="7543800"/>
                  </a:lnTo>
                  <a:cubicBezTo>
                    <a:pt x="68453" y="7543800"/>
                    <a:pt x="0" y="7475347"/>
                    <a:pt x="0" y="7390892"/>
                  </a:cubicBezTo>
                  <a:close/>
                </a:path>
              </a:pathLst>
            </a:custGeom>
            <a:solidFill>
              <a:srgbClr val="0F172A"/>
            </a:solidFill>
            <a:ln w="14288" cap="sq">
              <a:solidFill>
                <a:srgbClr val="0F172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914400"/>
            <a:ext cx="1714500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Core Innovation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1947863"/>
            <a:ext cx="17145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Concept:</a:t>
            </a: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 low-cost edge-computing module that passively crowdsources road hazard locations.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488" y="3990975"/>
            <a:ext cx="350043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4488" y="5000625"/>
            <a:ext cx="3675459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4488" y="5567362"/>
            <a:ext cx="2943225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Edge module detects severe road anomalies in real-time.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00712" y="3990975"/>
            <a:ext cx="350043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3B82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00712" y="5000625"/>
            <a:ext cx="3675459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Transmit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0712" y="5567362"/>
            <a:ext cx="2943225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Sends a lightweight BLE trigger to the rider’s smartphone.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86938" y="3990975"/>
            <a:ext cx="350043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6938" y="5000625"/>
            <a:ext cx="3675459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6938" y="5567362"/>
            <a:ext cx="2943225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Phone appends GPS coordinates and uploads to the cloud.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73162" y="3990975"/>
            <a:ext cx="350043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43F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73162" y="5000625"/>
            <a:ext cx="3675459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Resolve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73162" y="5567362"/>
            <a:ext cx="2943225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>
                <a:solidFill>
                  <a:srgbClr val="B4B4B4"/>
                </a:solidFill>
                <a:latin typeface="Roboto"/>
                <a:ea typeface="Roboto"/>
                <a:cs typeface="Roboto"/>
                <a:sym typeface="Roboto"/>
              </a:rPr>
              <a:t>Cloud clusters data to generate automated municipal heat maps.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0" y="2693194"/>
            <a:ext cx="7543800" cy="6286500"/>
            <a:chOff x="0" y="0"/>
            <a:chExt cx="10058400" cy="8382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0584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8382000"/>
                  </a:lnTo>
                  <a:lnTo>
                    <a:pt x="0" y="838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3" r="0" b="-11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72688" y="3164681"/>
            <a:ext cx="6600825" cy="5343525"/>
            <a:chOff x="0" y="0"/>
            <a:chExt cx="8801100" cy="71247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801100" cy="7124700"/>
            </a:xfrm>
            <a:custGeom>
              <a:avLst/>
              <a:gdLst/>
              <a:ahLst/>
              <a:cxnLst/>
              <a:rect r="r" b="b" t="t" l="l"/>
              <a:pathLst>
                <a:path h="7124700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7124700"/>
                  </a:lnTo>
                  <a:lnTo>
                    <a:pt x="0" y="712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" r="0" b="-18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914400"/>
            <a:ext cx="1714500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Architecture &amp; Sensor Fusion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200" y="2452688"/>
            <a:ext cx="722947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0F172A"/>
                </a:solidFill>
                <a:latin typeface="Roboto Bold"/>
                <a:ea typeface="Roboto Bold"/>
                <a:cs typeface="Roboto Bold"/>
                <a:sym typeface="Roboto Bold"/>
              </a:rPr>
              <a:t>Edge Hardware:</a:t>
            </a:r>
            <a:r>
              <a:rPr lang="en-US" sz="22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ESP32 microcontroller utilizing dual-core processing for simultaneous sensor sampling and BLE transmission.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4081462"/>
            <a:ext cx="7229475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0F172A"/>
                </a:solidFill>
                <a:latin typeface="Roboto Bold"/>
                <a:ea typeface="Roboto Bold"/>
                <a:cs typeface="Roboto Bold"/>
                <a:sym typeface="Roboto Bold"/>
              </a:rPr>
              <a:t>Intelligent Filtering:</a:t>
            </a:r>
            <a:r>
              <a:rPr lang="en-US" sz="22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A hazard is only logged when a sudden ToF depth increase occurs </a:t>
            </a:r>
            <a:r>
              <a:rPr lang="en-US" sz="2250" i="true">
                <a:solidFill>
                  <a:srgbClr val="0F172A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simultaneously</a:t>
            </a:r>
            <a:r>
              <a:rPr lang="en-US" sz="22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with an MPU-6500 free-fall spike, eliminating false positives from cornering.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200" y="6138862"/>
            <a:ext cx="722947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0F172A"/>
                </a:solidFill>
                <a:latin typeface="Roboto Bold"/>
                <a:ea typeface="Roboto Bold"/>
                <a:cs typeface="Roboto Bold"/>
                <a:sym typeface="Roboto Bold"/>
              </a:rPr>
              <a:t>Dynamic Baseline Algorithm:</a:t>
            </a:r>
            <a:r>
              <a:rPr lang="en-US" sz="22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Maintains a rolling average of distance readings to adapt to gradients without false alarms.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856" y="2750344"/>
            <a:ext cx="4967364" cy="5715000"/>
            <a:chOff x="0" y="0"/>
            <a:chExt cx="6623152" cy="762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23177" cy="7620000"/>
            </a:xfrm>
            <a:custGeom>
              <a:avLst/>
              <a:gdLst/>
              <a:ahLst/>
              <a:cxnLst/>
              <a:rect r="r" b="b" t="t" l="l"/>
              <a:pathLst>
                <a:path h="7620000" w="6623177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470396" y="0"/>
                  </a:lnTo>
                  <a:cubicBezTo>
                    <a:pt x="6554724" y="0"/>
                    <a:pt x="6623177" y="68453"/>
                    <a:pt x="6623177" y="152781"/>
                  </a:cubicBezTo>
                  <a:lnTo>
                    <a:pt x="6623177" y="7467219"/>
                  </a:lnTo>
                  <a:cubicBezTo>
                    <a:pt x="6623177" y="7551547"/>
                    <a:pt x="6554724" y="7620000"/>
                    <a:pt x="6470396" y="7620000"/>
                  </a:cubicBezTo>
                  <a:lnTo>
                    <a:pt x="152781" y="7620000"/>
                  </a:lnTo>
                  <a:cubicBezTo>
                    <a:pt x="68453" y="7620000"/>
                    <a:pt x="0" y="7551547"/>
                    <a:pt x="0" y="746721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0432" y="2750344"/>
            <a:ext cx="4967364" cy="5715000"/>
            <a:chOff x="0" y="0"/>
            <a:chExt cx="6623152" cy="762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23177" cy="7620000"/>
            </a:xfrm>
            <a:custGeom>
              <a:avLst/>
              <a:gdLst/>
              <a:ahLst/>
              <a:cxnLst/>
              <a:rect r="r" b="b" t="t" l="l"/>
              <a:pathLst>
                <a:path h="7620000" w="6623177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470396" y="0"/>
                  </a:lnTo>
                  <a:cubicBezTo>
                    <a:pt x="6554724" y="0"/>
                    <a:pt x="6623177" y="68453"/>
                    <a:pt x="6623177" y="152781"/>
                  </a:cubicBezTo>
                  <a:lnTo>
                    <a:pt x="6623177" y="7467219"/>
                  </a:lnTo>
                  <a:cubicBezTo>
                    <a:pt x="6623177" y="7551547"/>
                    <a:pt x="6554724" y="7620000"/>
                    <a:pt x="6470396" y="7620000"/>
                  </a:cubicBezTo>
                  <a:lnTo>
                    <a:pt x="152781" y="7620000"/>
                  </a:lnTo>
                  <a:cubicBezTo>
                    <a:pt x="68453" y="7620000"/>
                    <a:pt x="0" y="7551547"/>
                    <a:pt x="0" y="746721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85009" y="2750344"/>
            <a:ext cx="4967364" cy="5715000"/>
            <a:chOff x="0" y="0"/>
            <a:chExt cx="6623152" cy="762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23177" cy="7620000"/>
            </a:xfrm>
            <a:custGeom>
              <a:avLst/>
              <a:gdLst/>
              <a:ahLst/>
              <a:cxnLst/>
              <a:rect r="r" b="b" t="t" l="l"/>
              <a:pathLst>
                <a:path h="7620000" w="6623177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470396" y="0"/>
                  </a:lnTo>
                  <a:cubicBezTo>
                    <a:pt x="6554724" y="0"/>
                    <a:pt x="6623177" y="68453"/>
                    <a:pt x="6623177" y="152781"/>
                  </a:cubicBezTo>
                  <a:lnTo>
                    <a:pt x="6623177" y="7467219"/>
                  </a:lnTo>
                  <a:cubicBezTo>
                    <a:pt x="6623177" y="7551547"/>
                    <a:pt x="6554724" y="7620000"/>
                    <a:pt x="6470396" y="7620000"/>
                  </a:cubicBezTo>
                  <a:lnTo>
                    <a:pt x="152781" y="7620000"/>
                  </a:lnTo>
                  <a:cubicBezTo>
                    <a:pt x="68453" y="7620000"/>
                    <a:pt x="0" y="7551547"/>
                    <a:pt x="0" y="746721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333674" y="5600700"/>
            <a:ext cx="571500" cy="42862"/>
            <a:chOff x="0" y="0"/>
            <a:chExt cx="762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0" cy="57150"/>
            </a:xfrm>
            <a:custGeom>
              <a:avLst/>
              <a:gdLst/>
              <a:ahLst/>
              <a:cxnLst/>
              <a:rect r="r" b="b" t="t" l="l"/>
              <a:pathLst>
                <a:path h="5715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8250" y="5600700"/>
            <a:ext cx="571500" cy="42862"/>
            <a:chOff x="0" y="0"/>
            <a:chExt cx="76200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0" cy="57150"/>
            </a:xfrm>
            <a:custGeom>
              <a:avLst/>
              <a:gdLst/>
              <a:ahLst/>
              <a:cxnLst/>
              <a:rect r="r" b="b" t="t" l="l"/>
              <a:pathLst>
                <a:path h="5715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82826" y="5214938"/>
            <a:ext cx="571500" cy="42862"/>
            <a:chOff x="0" y="0"/>
            <a:chExt cx="76200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57150"/>
            </a:xfrm>
            <a:custGeom>
              <a:avLst/>
              <a:gdLst/>
              <a:ahLst/>
              <a:cxnLst/>
              <a:rect r="r" b="b" t="t" l="l"/>
              <a:pathLst>
                <a:path h="5715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190799" y="3457575"/>
            <a:ext cx="857250" cy="685800"/>
            <a:chOff x="0" y="0"/>
            <a:chExt cx="11430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143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33" t="0" r="-83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801100" y="3457575"/>
            <a:ext cx="685800" cy="685800"/>
            <a:chOff x="0" y="0"/>
            <a:chExt cx="9144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41" t="0" r="-104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325676" y="3457575"/>
            <a:ext cx="685800" cy="685800"/>
            <a:chOff x="0" y="0"/>
            <a:chExt cx="9144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1" t="0" r="-104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-428625" y="914400"/>
            <a:ext cx="1914525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Expanded ADAS Ecosystem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904" y="4600575"/>
            <a:ext cx="526325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Automatic Crash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3225" y="5910262"/>
            <a:ext cx="5012626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MPU-6500 detects high lean angles (&gt; 70°) combined with rapid linear deceleration, initiating an automated SOS dispatch.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12481" y="4600575"/>
            <a:ext cx="526325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Anti-Theft Tamper Alarm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37801" y="5910262"/>
            <a:ext cx="5012626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Gyroscope locks the side-stand tilt baseline; unauthorized leveling triggers a push notification.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15158" y="4600575"/>
            <a:ext cx="4706836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 Rider Telematics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62377" y="5524500"/>
            <a:ext cx="5012626" cy="12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025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Tracks aggressive cornering and harsh braking to generate a "Safe Rider Score."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2069" y="2300288"/>
            <a:ext cx="8043862" cy="2591619"/>
            <a:chOff x="0" y="0"/>
            <a:chExt cx="10725150" cy="3455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5150" cy="3455543"/>
            </a:xfrm>
            <a:custGeom>
              <a:avLst/>
              <a:gdLst/>
              <a:ahLst/>
              <a:cxnLst/>
              <a:rect r="r" b="b" t="t" l="l"/>
              <a:pathLst>
                <a:path h="3455543" w="10725150">
                  <a:moveTo>
                    <a:pt x="0" y="0"/>
                  </a:moveTo>
                  <a:lnTo>
                    <a:pt x="10725150" y="0"/>
                  </a:lnTo>
                  <a:lnTo>
                    <a:pt x="10725150" y="3455543"/>
                  </a:lnTo>
                  <a:lnTo>
                    <a:pt x="0" y="3455543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22069" y="2300288"/>
            <a:ext cx="85725" cy="2591619"/>
            <a:chOff x="0" y="0"/>
            <a:chExt cx="114300" cy="3455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" cy="3455543"/>
            </a:xfrm>
            <a:custGeom>
              <a:avLst/>
              <a:gdLst/>
              <a:ahLst/>
              <a:cxnLst/>
              <a:rect r="r" b="b" t="t" l="l"/>
              <a:pathLst>
                <a:path h="3455543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455543"/>
                  </a:lnTo>
                  <a:lnTo>
                    <a:pt x="0" y="3455543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914400"/>
            <a:ext cx="1714500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Timeline &amp;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300288"/>
            <a:ext cx="4402331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755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INITIATION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2743200"/>
            <a:ext cx="4622454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September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64994" y="2757488"/>
            <a:ext cx="880467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B82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STAGE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4994" y="3105150"/>
            <a:ext cx="718661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Breadboard prototype completed. Successful I2C integration of ESP32, MPU-9265, and VL53L0X. Core sensor fusion logic and Dynamic Baseline algorithm functioning.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23131" y="2300288"/>
            <a:ext cx="4402331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755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PHASE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23131" y="2647950"/>
            <a:ext cx="3664744" cy="19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Fabrication of a vibration-dampened weatherproof enclosure and development of the BLE-to-Cloud smartphone application.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43000" y="7772400"/>
            <a:ext cx="16002000" cy="57150"/>
            <a:chOff x="0" y="0"/>
            <a:chExt cx="213360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76200"/>
            </a:xfrm>
            <a:custGeom>
              <a:avLst/>
              <a:gdLst/>
              <a:ahLst/>
              <a:cxnLst/>
              <a:rect r="r" b="b" t="t" l="l"/>
              <a:pathLst>
                <a:path h="762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7772400"/>
            <a:ext cx="8001000" cy="57150"/>
            <a:chOff x="0" y="0"/>
            <a:chExt cx="106680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8000" cy="76200"/>
            </a:xfrm>
            <a:custGeom>
              <a:avLst/>
              <a:gdLst/>
              <a:ahLst/>
              <a:cxnLst/>
              <a:rect r="r" b="b" t="t" l="l"/>
              <a:pathLst>
                <a:path h="762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7515225"/>
            <a:ext cx="3586162" cy="1400175"/>
            <a:chOff x="0" y="0"/>
            <a:chExt cx="4781550" cy="1866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8155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866900"/>
                  </a:lnTo>
                  <a:lnTo>
                    <a:pt x="0" y="1866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86750" y="7515225"/>
            <a:ext cx="2185988" cy="1400175"/>
            <a:chOff x="0" y="0"/>
            <a:chExt cx="2914650" cy="1866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14650" cy="1866900"/>
            </a:xfrm>
            <a:custGeom>
              <a:avLst/>
              <a:gdLst/>
              <a:ahLst/>
              <a:cxnLst/>
              <a:rect r="r" b="b" t="t" l="l"/>
              <a:pathLst>
                <a:path h="186690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1866900"/>
                  </a:lnTo>
                  <a:lnTo>
                    <a:pt x="0" y="1866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030325" y="7515225"/>
            <a:ext cx="3114675" cy="1400175"/>
            <a:chOff x="0" y="0"/>
            <a:chExt cx="4152900" cy="1866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529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866900"/>
                  </a:lnTo>
                  <a:lnTo>
                    <a:pt x="0" y="1866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273338" y="7486650"/>
            <a:ext cx="628650" cy="628650"/>
            <a:chOff x="0" y="0"/>
            <a:chExt cx="838200" cy="838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419100"/>
                  </a:moveTo>
                  <a:cubicBezTo>
                    <a:pt x="0" y="187579"/>
                    <a:pt x="187579" y="0"/>
                    <a:pt x="419100" y="0"/>
                  </a:cubicBezTo>
                  <a:cubicBezTo>
                    <a:pt x="650621" y="0"/>
                    <a:pt x="838200" y="187579"/>
                    <a:pt x="838200" y="419100"/>
                  </a:cubicBezTo>
                  <a:cubicBezTo>
                    <a:pt x="838200" y="650621"/>
                    <a:pt x="650621" y="838200"/>
                    <a:pt x="419100" y="838200"/>
                  </a:cubicBezTo>
                  <a:cubicBezTo>
                    <a:pt x="187579" y="838200"/>
                    <a:pt x="0" y="650621"/>
                    <a:pt x="0" y="41910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650331" y="7515225"/>
            <a:ext cx="571500" cy="571500"/>
            <a:chOff x="0" y="0"/>
            <a:chExt cx="762000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0" t="0" r="-125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93994" y="7515225"/>
            <a:ext cx="571500" cy="571500"/>
            <a:chOff x="0" y="0"/>
            <a:chExt cx="762000" cy="762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0" t="0" r="-125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821781" y="7672388"/>
            <a:ext cx="228600" cy="257175"/>
            <a:chOff x="0" y="0"/>
            <a:chExt cx="304800" cy="3429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25" t="0" r="-3125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65444" y="7672388"/>
            <a:ext cx="228600" cy="257175"/>
            <a:chOff x="0" y="0"/>
            <a:chExt cx="304800" cy="3429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04800" cy="342900"/>
            </a:xfrm>
            <a:custGeom>
              <a:avLst/>
              <a:gdLst/>
              <a:ahLst/>
              <a:cxnLst/>
              <a:rect r="r" b="b" t="t" l="l"/>
              <a:pathLst>
                <a:path h="3429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25" t="0" r="-3125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32720" y="8315325"/>
            <a:ext cx="380672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Integration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07419" y="8677275"/>
            <a:ext cx="145732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Roboto Bold"/>
                <a:ea typeface="Roboto Bold"/>
                <a:cs typeface="Roboto Bold"/>
                <a:sym typeface="Roboto Bold"/>
              </a:rPr>
              <a:t>(Complete)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67112" y="8315325"/>
            <a:ext cx="202525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Edge Logic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51081" y="8677275"/>
            <a:ext cx="145732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Roboto Bold"/>
                <a:ea typeface="Roboto Bold"/>
                <a:cs typeface="Roboto Bold"/>
                <a:sym typeface="Roboto Bold"/>
              </a:rPr>
              <a:t>(Complete)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93711" y="8315325"/>
            <a:ext cx="31878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64748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 &amp; Enclosure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923294" y="8677275"/>
            <a:ext cx="132873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0F172A"/>
                </a:solidFill>
                <a:latin typeface="Roboto Bold"/>
                <a:ea typeface="Roboto Bold"/>
                <a:cs typeface="Roboto Bold"/>
                <a:sym typeface="Roboto Bold"/>
              </a:rPr>
              <a:t>(Pending)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0" y="3077613"/>
            <a:ext cx="7543800" cy="1714500"/>
            <a:chOff x="0" y="0"/>
            <a:chExt cx="100584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B223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0" y="5820813"/>
            <a:ext cx="7543800" cy="2774452"/>
            <a:chOff x="0" y="0"/>
            <a:chExt cx="10058400" cy="36992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3699256"/>
            </a:xfrm>
            <a:custGeom>
              <a:avLst/>
              <a:gdLst/>
              <a:ahLst/>
              <a:cxnLst/>
              <a:rect r="r" b="b" t="t" l="l"/>
              <a:pathLst>
                <a:path h="3699256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699256"/>
                  </a:lnTo>
                  <a:lnTo>
                    <a:pt x="0" y="3699256"/>
                  </a:lnTo>
                  <a:close/>
                </a:path>
              </a:pathLst>
            </a:custGeom>
            <a:solidFill>
              <a:srgbClr val="221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0" y="3077613"/>
            <a:ext cx="85725" cy="1714500"/>
            <a:chOff x="0" y="0"/>
            <a:chExt cx="1143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0" y="5820813"/>
            <a:ext cx="85725" cy="2774452"/>
            <a:chOff x="0" y="0"/>
            <a:chExt cx="114300" cy="36992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3699256"/>
            </a:xfrm>
            <a:custGeom>
              <a:avLst/>
              <a:gdLst/>
              <a:ahLst/>
              <a:cxnLst/>
              <a:rect r="r" b="b" t="t" l="l"/>
              <a:pathLst>
                <a:path h="3699256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699256"/>
                  </a:lnTo>
                  <a:lnTo>
                    <a:pt x="0" y="3699256"/>
                  </a:lnTo>
                  <a:close/>
                </a:path>
              </a:pathLst>
            </a:custGeom>
            <a:solidFill>
              <a:srgbClr val="F43F5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43000" y="914400"/>
            <a:ext cx="17145000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Commercial Viability &amp;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200" y="2452688"/>
            <a:ext cx="722947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E2E8F0"/>
                </a:solidFill>
                <a:latin typeface="Roboto Bold"/>
                <a:ea typeface="Roboto Bold"/>
                <a:cs typeface="Roboto Bold"/>
                <a:sym typeface="Roboto Bold"/>
              </a:rPr>
              <a:t>Micro-Budget Hardware:</a:t>
            </a:r>
            <a:r>
              <a:rPr lang="en-US" sz="22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The core sensor array (ESP32, MPU-6500, VL53L0X) costs under Rs. 3,500 per unit to manufacture at scale.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200" y="4081462"/>
            <a:ext cx="7229475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E2E8F0"/>
                </a:solidFill>
                <a:latin typeface="Roboto Bold"/>
                <a:ea typeface="Roboto Bold"/>
                <a:cs typeface="Roboto Bold"/>
                <a:sym typeface="Roboto Bold"/>
              </a:rPr>
              <a:t>Dual Revenue Streams: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200" y="6796088"/>
            <a:ext cx="7229475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E2E8F0"/>
                </a:solidFill>
                <a:latin typeface="Roboto Bold"/>
                <a:ea typeface="Roboto Bold"/>
                <a:cs typeface="Roboto Bold"/>
                <a:sym typeface="Roboto Bold"/>
              </a:rPr>
              <a:t>The Bottom Line:</a:t>
            </a:r>
            <a:r>
              <a:rPr lang="en-US" sz="22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For the cost of repairing a single accident-damaged motorcycle, a local council could deploy a fleet of AeroSense modules to proactively secure an entire urban district.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58225" y="5125488"/>
            <a:ext cx="94297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B4B4B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3188" y="3584819"/>
            <a:ext cx="3268266" cy="70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Rs. 3,500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01700" y="6507951"/>
            <a:ext cx="3506238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Rs. 40,000+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8788" y="4681538"/>
            <a:ext cx="1000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4B4B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52675" y="4624388"/>
            <a:ext cx="6477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25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B2G:</a:t>
            </a:r>
            <a:r>
              <a:rPr lang="en-US" sz="225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 Selling targeted maintenance telemetry to municipal councils.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8788" y="5653088"/>
            <a:ext cx="1000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B4B4B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52675" y="5595938"/>
            <a:ext cx="6477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25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B2B:</a:t>
            </a:r>
            <a:r>
              <a:rPr lang="en-US" sz="225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 Licensing rider telematics to insurance companies for dynamic premium pricing.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4125" y="3534813"/>
            <a:ext cx="4196953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6B6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INNOVATION COST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4125" y="3920576"/>
            <a:ext cx="4406798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AeroSense Module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44125" y="6278013"/>
            <a:ext cx="3975383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43F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 QUO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44125" y="6663776"/>
            <a:ext cx="348934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Accident Damage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44125" y="7530551"/>
            <a:ext cx="3000375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B4B4B4"/>
                </a:solidFill>
                <a:latin typeface="Roboto"/>
                <a:ea typeface="Roboto"/>
                <a:cs typeface="Roboto"/>
                <a:sym typeface="Roboto"/>
              </a:rPr>
              <a:t>(Bent rim, suspension forks, &amp; medical bills)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DAHW4iaiHfU</dc:identifier>
  <dcterms:modified xsi:type="dcterms:W3CDTF">2011-08-01T06:04:30Z</dcterms:modified>
  <cp:revision>1</cp:revision>
  <dc:title>AeroSense Pitch Deck.pptx</dc:title>
</cp:coreProperties>
</file>